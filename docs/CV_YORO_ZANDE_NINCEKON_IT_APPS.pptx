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Montserrat" panose="00000500000000000000" pitchFamily="2" charset="0"/>
      <p:regular r:id="rId3"/>
      <p:bold r:id="rId4"/>
      <p:italic r:id="rId5"/>
      <p:boldItalic r:id="rId6"/>
    </p:embeddedFont>
    <p:embeddedFont>
      <p:font typeface="Montserrat Bold" panose="00000800000000000000" charset="0"/>
      <p:regular r:id="rId7"/>
    </p:embeddedFont>
    <p:embeddedFont>
      <p:font typeface="Montserrat Italics" panose="020B0604020202020204" charset="0"/>
      <p:regular r:id="rId8"/>
    </p:embeddedFont>
    <p:embeddedFont>
      <p:font typeface="Montserrat Light" panose="00000400000000000000" pitchFamily="2" charset="0"/>
      <p:regular r:id="rId9"/>
    </p:embeddedFont>
    <p:embeddedFont>
      <p:font typeface="Montserrat Light Italics" panose="020B0604020202020204" charset="0"/>
      <p:regular r:id="rId10"/>
    </p:embeddedFont>
    <p:embeddedFont>
      <p:font typeface="Montserrat Semi-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4" d="100"/>
          <a:sy n="124" d="100"/>
        </p:scale>
        <p:origin x="236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425449" y="1530210"/>
            <a:ext cx="0" cy="504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H="1" flipV="1">
            <a:off x="425450" y="2603500"/>
            <a:ext cx="0" cy="26493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3006581" y="4194031"/>
            <a:ext cx="85869" cy="858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D9D9D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lang="fr-FR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2515" y="2903564"/>
            <a:ext cx="85869" cy="8586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D9D9D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lang="fr-FR" noProof="0" dirty="0"/>
            </a:p>
          </p:txBody>
        </p:sp>
      </p:grpSp>
      <p:sp>
        <p:nvSpPr>
          <p:cNvPr id="14" name="AutoShape 14"/>
          <p:cNvSpPr/>
          <p:nvPr/>
        </p:nvSpPr>
        <p:spPr>
          <a:xfrm flipH="1" flipV="1">
            <a:off x="425449" y="3037821"/>
            <a:ext cx="0" cy="432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374465" y="3612831"/>
            <a:ext cx="85869" cy="8586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D9D9D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lang="fr-FR" noProof="0" dirty="0"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425449" y="3784886"/>
            <a:ext cx="0" cy="252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TextBox 34"/>
          <p:cNvSpPr txBox="1"/>
          <p:nvPr/>
        </p:nvSpPr>
        <p:spPr>
          <a:xfrm>
            <a:off x="341006" y="1256852"/>
            <a:ext cx="3401154" cy="182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0"/>
              </a:lnSpc>
            </a:pPr>
            <a:r>
              <a:rPr lang="fr-FR" sz="1100" b="1" spc="212" noProof="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</a:t>
            </a:r>
            <a:r>
              <a:rPr lang="fr-FR" sz="1200" b="1" spc="212" noProof="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</a:t>
            </a:r>
            <a:r>
              <a:rPr lang="fr-FR" sz="1100" b="1" spc="212" noProof="0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/ DEVELOPPEUR WEB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41006" y="392663"/>
            <a:ext cx="3517988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fr-FR" sz="3600" b="1" spc="578" noProof="0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YORO</a:t>
            </a:r>
            <a:endParaRPr lang="fr-FR" sz="2999" b="1" spc="578" noProof="0" dirty="0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341006" y="919155"/>
            <a:ext cx="3517988" cy="252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600" spc="289" noProof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ZANDE</a:t>
            </a:r>
            <a:r>
              <a:rPr lang="fr-FR" sz="1500" spc="289" noProof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1600" spc="289" noProof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NINCEKON</a:t>
            </a:r>
            <a:endParaRPr lang="fr-FR" sz="1500" spc="289" noProof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3014283" y="2374900"/>
            <a:ext cx="1758994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PROFIL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85547" y="2679700"/>
            <a:ext cx="4283752" cy="98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fr-FR" sz="900" dirty="0">
                <a:solidFill>
                  <a:srgbClr val="000000"/>
                </a:solidFill>
                <a:latin typeface="Montserrat" panose="00000500000000000000" pitchFamily="2" charset="0"/>
                <a:ea typeface="Montserrat Light"/>
                <a:cs typeface="Arial" panose="020B0604020202020204" pitchFamily="34" charset="0"/>
                <a:sym typeface="Montserrat Light"/>
              </a:rPr>
              <a:t>Passionné par l’informatique en général, les  applications et l'administration système et réseau, je suis fort d’au moins 4 ans d'expérience dans le domaine de l’informatique. À l'affût des technologies de supervision et d'automatisation (JavaScript &amp; Python), je suis prêt à intégrer votre structure pour assurer un monitoring continu de haute qualité et garantir la performance opérationnelle de vos services.</a:t>
            </a:r>
            <a:endParaRPr lang="fr-FR" sz="900" noProof="0" dirty="0">
              <a:solidFill>
                <a:srgbClr val="000000"/>
              </a:solidFill>
              <a:latin typeface="Montserrat" panose="00000500000000000000" pitchFamily="2" charset="0"/>
              <a:ea typeface="Montserrat Light"/>
              <a:cs typeface="Arial" panose="020B0604020202020204" pitchFamily="34" charset="0"/>
              <a:sym typeface="Montserrat Light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89718" y="1524044"/>
            <a:ext cx="2494681" cy="527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400"/>
              </a:lnSpc>
            </a:pPr>
            <a:r>
              <a:rPr lang="fr-FR" sz="1100" noProof="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(+225)   0706840174 / 0544725894</a:t>
            </a:r>
          </a:p>
          <a:p>
            <a:pPr algn="just">
              <a:lnSpc>
                <a:spcPts val="1400"/>
              </a:lnSpc>
            </a:pPr>
            <a:r>
              <a:rPr lang="fr-FR" sz="11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wilfried</a:t>
            </a:r>
            <a:r>
              <a:rPr lang="fr-FR" sz="1100" noProof="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yoro68@gmail.com</a:t>
            </a:r>
          </a:p>
          <a:p>
            <a:pPr algn="just">
              <a:lnSpc>
                <a:spcPts val="1400"/>
              </a:lnSpc>
              <a:spcBef>
                <a:spcPct val="0"/>
              </a:spcBef>
            </a:pPr>
            <a:r>
              <a:rPr lang="fr-FR" sz="11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Abidjan, Port Bouët - </a:t>
            </a:r>
            <a:r>
              <a:rPr lang="fr-FR" sz="11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Gonzagueville</a:t>
            </a:r>
            <a:endParaRPr lang="fr-FR" sz="11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341006" y="2341954"/>
            <a:ext cx="1983167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ÉDUCATION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016250" y="3822700"/>
            <a:ext cx="4283747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EXPÉRIENCES</a:t>
            </a:r>
            <a:r>
              <a:rPr lang="fr-FR" sz="1500" b="1" spc="199" noProof="0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PROFESSIONNELLES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167281" y="4127500"/>
            <a:ext cx="4172524" cy="15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fr-FR" sz="900" b="1" noProof="0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IT SUPPORT                                                                                </a:t>
            </a:r>
            <a:r>
              <a:rPr lang="fr-FR" sz="900" b="1" i="1" noProof="0" dirty="0" err="1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Ivotel</a:t>
            </a:r>
            <a:r>
              <a:rPr lang="fr-FR" sz="900" b="1" i="1" noProof="0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 Plateau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168649" y="4354932"/>
            <a:ext cx="4131347" cy="15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fr-FR" sz="900" i="1" dirty="0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Plateau – Av. Terrasson de Fougères |                          Juillet 2025 – Présent</a:t>
            </a:r>
            <a:endParaRPr lang="fr-FR" sz="900" i="1" noProof="0" dirty="0">
              <a:solidFill>
                <a:srgbClr val="3B3939"/>
              </a:solidFill>
              <a:latin typeface="Montserrat Light Italics"/>
              <a:ea typeface="Montserrat Light Italics"/>
              <a:cs typeface="Montserrat Light Italics"/>
              <a:sym typeface="Montserrat Light Italic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2940050" y="4559546"/>
            <a:ext cx="4495800" cy="1320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Supervision et Monitoring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Surveillance continue de la disponibilité des infrastructures informatiques et des services réseaux.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Gestion des Incidents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Détection proactive, prise en charge et résolution des alertes techniques de niveau 1 et 2 dans les plus brefs délais.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Support aux Utilisateurs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Assistance technique et fonctionnelle auprès de l'administration et des clients internes / externes.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Maintenance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Gestion opérationnelle et maintenance du parc informatique, des serveurs et des équipements télécoms.</a:t>
            </a:r>
            <a:endParaRPr lang="fr-FR" sz="9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546551" y="2831835"/>
            <a:ext cx="1954976" cy="320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fr-FR" sz="900" b="1" noProof="0" dirty="0">
                <a:latin typeface="Montserrat Semi-Bold"/>
                <a:ea typeface="Montserrat Semi-Bold"/>
                <a:cs typeface="Montserrat Semi-Bold"/>
                <a:sym typeface="Montserrat Semi-Bold"/>
              </a:rPr>
              <a:t>LICENCE EN INFORMATIQUE, DEVELOPPEUR D’APPLICATIONS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5358" y="3147532"/>
            <a:ext cx="1808531" cy="16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00"/>
              </a:lnSpc>
              <a:spcBef>
                <a:spcPct val="0"/>
              </a:spcBef>
            </a:pPr>
            <a:r>
              <a:rPr lang="fr-FR" sz="1000" i="1" noProof="0" dirty="0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2013 - 2016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41552" y="3580560"/>
            <a:ext cx="1808531" cy="1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fr-FR" sz="900" b="1" noProof="0" dirty="0">
                <a:latin typeface="Montserrat Semi-Bold"/>
                <a:ea typeface="Montserrat Semi-Bold"/>
                <a:cs typeface="Montserrat Semi-Bold"/>
                <a:sym typeface="Montserrat Semi-Bold"/>
              </a:rPr>
              <a:t>BACCALAURÉAT 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41552" y="3769588"/>
            <a:ext cx="1808531" cy="16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00"/>
              </a:lnSpc>
              <a:spcBef>
                <a:spcPct val="0"/>
              </a:spcBef>
            </a:pPr>
            <a:r>
              <a:rPr lang="fr-FR" sz="1000" i="1" noProof="0" dirty="0">
                <a:solidFill>
                  <a:srgbClr val="3B393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2010 - 2013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21919" y="3959420"/>
            <a:ext cx="1808531" cy="1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fr-FR" sz="900" noProof="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Lycée Moderne Cocody Angré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73050" y="4554215"/>
            <a:ext cx="2306088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COMPÉTENCES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73050" y="4862121"/>
            <a:ext cx="2421736" cy="2987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Systèmes &amp; Réseaux :</a:t>
            </a:r>
            <a:r>
              <a:rPr lang="fr-FR" sz="90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Environnements Linux / UNIX, Windows Server, Architecture LAN/WAN, Modèles OSI, Routage &amp; Commutation.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Outils Réseaux &amp; Supervision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Cisco </a:t>
            </a:r>
            <a:r>
              <a:rPr lang="fr-FR" sz="9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Packet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Tracer, Notions d'outils de monitoring (Zabbix, Centreon) et outils d'administration.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Langages &amp; Automatisation :</a:t>
            </a:r>
            <a:r>
              <a:rPr lang="fr-FR" sz="900" b="1" dirty="0">
                <a:solidFill>
                  <a:srgbClr val="3B3939"/>
                </a:solidFill>
                <a:latin typeface="Montserrat Light"/>
                <a:ea typeface="Montserrat Bold"/>
                <a:cs typeface="Montserrat Bold"/>
                <a:sym typeface="Montserrat Light"/>
              </a:rPr>
              <a:t>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Java, JavaScript, SQL, HTML/CSS, PHP, Python 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Productivité &amp; IA :</a:t>
            </a:r>
            <a:r>
              <a:rPr lang="fr-FR" sz="90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Microsoft Office Suite, </a:t>
            </a:r>
            <a:r>
              <a:rPr lang="fr-FR" sz="9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Canva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, Intégration d'outils IA (</a:t>
            </a:r>
            <a:r>
              <a:rPr lang="fr-FR" sz="9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ChatGPT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, Claude, Gemini) pour l'aide au diagnostic.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noProof="0" dirty="0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 </a:t>
            </a:r>
            <a:r>
              <a:rPr lang="fr-FR" sz="900" b="1" noProof="0" dirty="0" err="1">
                <a:solidFill>
                  <a:srgbClr val="3B393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</a:t>
            </a:r>
            <a:r>
              <a:rPr lang="fr-FR" sz="900" noProof="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</a:t>
            </a:r>
            <a:r>
              <a:rPr lang="fr-FR" sz="900" noProof="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Apprentissage rapide, autonomie, esprit d’équipe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6850" y="9080500"/>
            <a:ext cx="2497936" cy="249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CENTRES</a:t>
            </a:r>
            <a:r>
              <a:rPr lang="fr-FR" sz="1500" b="1" spc="199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fr-FR" sz="1500" b="1" spc="199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D’INTERET</a:t>
            </a:r>
            <a:r>
              <a:rPr lang="fr-FR" sz="1500" b="1" spc="199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endParaRPr lang="fr-FR" sz="1500" b="1" spc="199" noProof="0" dirty="0">
              <a:solidFill>
                <a:srgbClr val="000000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137314" y="9431707"/>
            <a:ext cx="2574136" cy="48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Veille technologique (IT, Apps &amp; DevOps)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Musique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Lecture</a:t>
            </a:r>
            <a:endParaRPr lang="fr-FR" sz="9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546551" y="3347693"/>
            <a:ext cx="1954976" cy="15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fr-FR" sz="900" noProof="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Groupe ESCOGET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014283" y="9080500"/>
            <a:ext cx="1983167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QUALITES</a:t>
            </a:r>
            <a:r>
              <a:rPr lang="fr-FR" sz="1500" b="1" spc="199" noProof="0" dirty="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940050" y="9385300"/>
            <a:ext cx="4479136" cy="653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Rigueur et méthode dans le suivi des incidents (Rapports de quart)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Excellente capacité de communication orale et écrite pour le suivi client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Autonomie en salle de supervision et esprit d'équipe pour l'escalade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Curiosité technique et adaptabilité aux nouvelles technologies</a:t>
            </a:r>
            <a:endParaRPr lang="fr-FR" sz="9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9" name="TextBox 55">
            <a:extLst>
              <a:ext uri="{FF2B5EF4-FFF2-40B4-BE49-F238E27FC236}">
                <a16:creationId xmlns:a16="http://schemas.microsoft.com/office/drawing/2014/main" id="{68A465B9-25EE-24C9-D813-D59AFB7E7205}"/>
              </a:ext>
            </a:extLst>
          </p:cNvPr>
          <p:cNvSpPr txBox="1"/>
          <p:nvPr/>
        </p:nvSpPr>
        <p:spPr>
          <a:xfrm>
            <a:off x="2940050" y="7940970"/>
            <a:ext cx="4495799" cy="98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Diagnostic Matériel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Prise en charge du diagnostic approfondi des équipements et terminaux défectueux (Axon </a:t>
            </a:r>
            <a:r>
              <a:rPr lang="fr-FR" sz="900" dirty="0" err="1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devices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).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Gestion de Requêtes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Traitement et suivi rigoureux des demandes de services dans le respect des processus de maintenance.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 err="1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Reporting</a:t>
            </a: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 &amp; Suivi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Réalisation de l'inventaire physique du matériel et rédaction des rapports techniques de réparation pour la hiérarchie.</a:t>
            </a:r>
            <a:endParaRPr lang="fr-FR" sz="9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9" name="TextBox 54">
            <a:extLst>
              <a:ext uri="{FF2B5EF4-FFF2-40B4-BE49-F238E27FC236}">
                <a16:creationId xmlns:a16="http://schemas.microsoft.com/office/drawing/2014/main" id="{002CF8C5-D770-DAEB-44B9-EF89C1512B4C}"/>
              </a:ext>
            </a:extLst>
          </p:cNvPr>
          <p:cNvSpPr txBox="1"/>
          <p:nvPr/>
        </p:nvSpPr>
        <p:spPr>
          <a:xfrm>
            <a:off x="3085979" y="7707732"/>
            <a:ext cx="4156942" cy="15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fr-FR" sz="900" i="1" dirty="0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Marcory Zone 4 |        Octobre 2021 – Février 2022 &amp; Juin 2020 – Août 2020</a:t>
            </a:r>
            <a:endParaRPr lang="fr-FR" sz="900" i="1" noProof="0" dirty="0">
              <a:solidFill>
                <a:srgbClr val="3B3939"/>
              </a:solidFill>
              <a:latin typeface="Montserrat Light Italics"/>
              <a:ea typeface="Montserrat Light Italics"/>
              <a:cs typeface="Montserrat Light Italics"/>
              <a:sym typeface="Montserrat Light Italics"/>
            </a:endParaRPr>
          </a:p>
        </p:txBody>
      </p:sp>
      <p:sp>
        <p:nvSpPr>
          <p:cNvPr id="111" name="TextBox 53">
            <a:extLst>
              <a:ext uri="{FF2B5EF4-FFF2-40B4-BE49-F238E27FC236}">
                <a16:creationId xmlns:a16="http://schemas.microsoft.com/office/drawing/2014/main" id="{50FC905B-873E-8E5B-93C3-B350F97BA389}"/>
              </a:ext>
            </a:extLst>
          </p:cNvPr>
          <p:cNvSpPr txBox="1"/>
          <p:nvPr/>
        </p:nvSpPr>
        <p:spPr>
          <a:xfrm>
            <a:off x="3168650" y="7483770"/>
            <a:ext cx="4172525" cy="15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fr-FR" sz="900" b="1" noProof="0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IT </a:t>
            </a:r>
            <a:r>
              <a:rPr lang="fr-FR" sz="900" b="1" dirty="0" err="1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Technician</a:t>
            </a:r>
            <a:r>
              <a:rPr lang="fr-FR" sz="900" b="1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 (Prestataire TC)</a:t>
            </a:r>
            <a:r>
              <a:rPr lang="fr-FR" sz="900" b="1" noProof="0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                                         </a:t>
            </a:r>
            <a:r>
              <a:rPr lang="fr-FR" sz="900" b="1" i="1" noProof="0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MTN Côte d’Ivoire</a:t>
            </a:r>
          </a:p>
        </p:txBody>
      </p:sp>
      <p:grpSp>
        <p:nvGrpSpPr>
          <p:cNvPr id="112" name="Group 8">
            <a:extLst>
              <a:ext uri="{FF2B5EF4-FFF2-40B4-BE49-F238E27FC236}">
                <a16:creationId xmlns:a16="http://schemas.microsoft.com/office/drawing/2014/main" id="{0016CD29-57D3-0110-F7DB-ED13DA5FBE03}"/>
              </a:ext>
            </a:extLst>
          </p:cNvPr>
          <p:cNvGrpSpPr/>
          <p:nvPr/>
        </p:nvGrpSpPr>
        <p:grpSpPr>
          <a:xfrm>
            <a:off x="3025056" y="7531551"/>
            <a:ext cx="85869" cy="85869"/>
            <a:chOff x="0" y="0"/>
            <a:chExt cx="812800" cy="812800"/>
          </a:xfrm>
        </p:grpSpPr>
        <p:sp>
          <p:nvSpPr>
            <p:cNvPr id="113" name="Freeform 9">
              <a:extLst>
                <a:ext uri="{FF2B5EF4-FFF2-40B4-BE49-F238E27FC236}">
                  <a16:creationId xmlns:a16="http://schemas.microsoft.com/office/drawing/2014/main" id="{40C70997-21D7-42F3-2A97-3775D81832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D9D9D"/>
              </a:solidFill>
              <a:prstDash val="solid"/>
              <a:miter/>
            </a:ln>
          </p:spPr>
        </p:sp>
        <p:sp>
          <p:nvSpPr>
            <p:cNvPr id="114" name="TextBox 10">
              <a:extLst>
                <a:ext uri="{FF2B5EF4-FFF2-40B4-BE49-F238E27FC236}">
                  <a16:creationId xmlns:a16="http://schemas.microsoft.com/office/drawing/2014/main" id="{3BCE412E-B7A3-B8D7-BC81-4345D20EC20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lang="fr-FR" noProof="0" dirty="0"/>
            </a:p>
          </p:txBody>
        </p:sp>
      </p:grpSp>
      <p:sp>
        <p:nvSpPr>
          <p:cNvPr id="115" name="TextBox 54">
            <a:extLst>
              <a:ext uri="{FF2B5EF4-FFF2-40B4-BE49-F238E27FC236}">
                <a16:creationId xmlns:a16="http://schemas.microsoft.com/office/drawing/2014/main" id="{C3FD8123-D086-68B4-50BA-B928ECFEDF7B}"/>
              </a:ext>
            </a:extLst>
          </p:cNvPr>
          <p:cNvSpPr txBox="1"/>
          <p:nvPr/>
        </p:nvSpPr>
        <p:spPr>
          <a:xfrm>
            <a:off x="3202708" y="6183732"/>
            <a:ext cx="4156942" cy="15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60"/>
              </a:lnSpc>
              <a:spcBef>
                <a:spcPct val="0"/>
              </a:spcBef>
            </a:pPr>
            <a:r>
              <a:rPr lang="fr-FR" sz="900" i="1" dirty="0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Cocody </a:t>
            </a:r>
            <a:r>
              <a:rPr lang="fr-FR" sz="900" i="1" dirty="0" err="1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Djorogobité</a:t>
            </a:r>
            <a:r>
              <a:rPr lang="fr-FR" sz="900" i="1" dirty="0">
                <a:solidFill>
                  <a:srgbClr val="3B3939"/>
                </a:solidFill>
                <a:latin typeface="Montserrat Light Italics"/>
                <a:ea typeface="Montserrat Light Italics"/>
                <a:cs typeface="Montserrat Light Italics"/>
                <a:sym typeface="Montserrat Light Italics"/>
              </a:rPr>
              <a:t> |                                                            Juin 2023 – Présent</a:t>
            </a:r>
            <a:endParaRPr lang="fr-FR" sz="900" i="1" noProof="0" dirty="0">
              <a:solidFill>
                <a:srgbClr val="3B3939"/>
              </a:solidFill>
              <a:latin typeface="Montserrat Light Italics"/>
              <a:ea typeface="Montserrat Light Italics"/>
              <a:cs typeface="Montserrat Light Italics"/>
              <a:sym typeface="Montserrat Light Italics"/>
            </a:endParaRPr>
          </a:p>
        </p:txBody>
      </p:sp>
      <p:sp>
        <p:nvSpPr>
          <p:cNvPr id="116" name="TextBox 55">
            <a:extLst>
              <a:ext uri="{FF2B5EF4-FFF2-40B4-BE49-F238E27FC236}">
                <a16:creationId xmlns:a16="http://schemas.microsoft.com/office/drawing/2014/main" id="{C4806D5A-E56F-7161-E4E6-CF3A5263A518}"/>
              </a:ext>
            </a:extLst>
          </p:cNvPr>
          <p:cNvSpPr txBox="1"/>
          <p:nvPr/>
        </p:nvSpPr>
        <p:spPr>
          <a:xfrm>
            <a:off x="2941061" y="6416970"/>
            <a:ext cx="4528848" cy="98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Automatisation de Scripts : </a:t>
            </a:r>
            <a:r>
              <a:rPr lang="fr-FR" sz="90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Développement de scripts en Python pour optimiser et automatiser les tâches administratives répétitives.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Conception d’Applications : </a:t>
            </a:r>
            <a:r>
              <a:rPr lang="fr-FR" sz="90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Développement, tests et déploiement d’applications web et mobiles dynamiques.</a:t>
            </a:r>
          </a:p>
          <a:p>
            <a:pPr marL="194312" lvl="1" indent="-97156" algn="just">
              <a:lnSpc>
                <a:spcPts val="1260"/>
              </a:lnSpc>
              <a:buFont typeface="Arial"/>
              <a:buChar char="•"/>
            </a:pPr>
            <a:r>
              <a:rPr lang="fr-FR" sz="900" dirty="0">
                <a:solidFill>
                  <a:srgbClr val="3B3939"/>
                </a:solidFill>
                <a:latin typeface="Montserrat Bold" panose="020B0604020202020204" charset="0"/>
                <a:ea typeface="Montserrat Light"/>
                <a:cs typeface="Montserrat Light"/>
                <a:sym typeface="Montserrat Light"/>
              </a:rPr>
              <a:t>Formation : </a:t>
            </a:r>
            <a:r>
              <a:rPr lang="fr-FR" sz="900" dirty="0">
                <a:solidFill>
                  <a:srgbClr val="3B393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Dispense de cours d'informatique technique et d'initiation au développement web</a:t>
            </a:r>
            <a:endParaRPr lang="fr-FR" sz="900" noProof="0" dirty="0">
              <a:solidFill>
                <a:srgbClr val="3B393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7" name="TextBox 53">
            <a:extLst>
              <a:ext uri="{FF2B5EF4-FFF2-40B4-BE49-F238E27FC236}">
                <a16:creationId xmlns:a16="http://schemas.microsoft.com/office/drawing/2014/main" id="{CC9F663D-FAD6-2CD3-074D-B817A320936D}"/>
              </a:ext>
            </a:extLst>
          </p:cNvPr>
          <p:cNvSpPr txBox="1"/>
          <p:nvPr/>
        </p:nvSpPr>
        <p:spPr>
          <a:xfrm>
            <a:off x="3187125" y="5953964"/>
            <a:ext cx="4282783" cy="154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fr-FR" sz="900" b="1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Développeur Web / Automatisation Freelance               </a:t>
            </a:r>
            <a:r>
              <a:rPr lang="fr-FR" sz="900" b="1" i="1" dirty="0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N </a:t>
            </a:r>
            <a:r>
              <a:rPr lang="fr-FR" sz="900" b="1" i="1" dirty="0" err="1">
                <a:latin typeface="Montserrat Bold" panose="00000800000000000000" charset="0"/>
                <a:ea typeface="Montserrat Semi-Bold"/>
                <a:cs typeface="Montserrat Semi-Bold"/>
                <a:sym typeface="Montserrat Semi-Bold"/>
              </a:rPr>
              <a:t>OpenSpace</a:t>
            </a:r>
            <a:endParaRPr lang="fr-FR" sz="900" b="1" i="1" noProof="0" dirty="0">
              <a:latin typeface="Montserrat Bold" panose="00000800000000000000" charset="0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118" name="Group 8">
            <a:extLst>
              <a:ext uri="{FF2B5EF4-FFF2-40B4-BE49-F238E27FC236}">
                <a16:creationId xmlns:a16="http://schemas.microsoft.com/office/drawing/2014/main" id="{3DCD2704-A4F5-0E37-69FF-92B9E55D810C}"/>
              </a:ext>
            </a:extLst>
          </p:cNvPr>
          <p:cNvGrpSpPr/>
          <p:nvPr/>
        </p:nvGrpSpPr>
        <p:grpSpPr>
          <a:xfrm>
            <a:off x="3016250" y="6022831"/>
            <a:ext cx="85869" cy="85869"/>
            <a:chOff x="0" y="0"/>
            <a:chExt cx="812800" cy="812800"/>
          </a:xfrm>
        </p:grpSpPr>
        <p:sp>
          <p:nvSpPr>
            <p:cNvPr id="119" name="Freeform 9">
              <a:extLst>
                <a:ext uri="{FF2B5EF4-FFF2-40B4-BE49-F238E27FC236}">
                  <a16:creationId xmlns:a16="http://schemas.microsoft.com/office/drawing/2014/main" id="{B3C53E58-5CBF-5644-10E6-43C86FC2AF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9D9D9D"/>
              </a:solidFill>
              <a:prstDash val="solid"/>
              <a:miter/>
            </a:ln>
          </p:spPr>
        </p:sp>
        <p:sp>
          <p:nvSpPr>
            <p:cNvPr id="120" name="TextBox 10">
              <a:extLst>
                <a:ext uri="{FF2B5EF4-FFF2-40B4-BE49-F238E27FC236}">
                  <a16:creationId xmlns:a16="http://schemas.microsoft.com/office/drawing/2014/main" id="{4959E501-F751-181C-E336-6107D41D804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lang="fr-FR" noProof="0" dirty="0"/>
            </a:p>
          </p:txBody>
        </p:sp>
      </p:grpSp>
      <p:sp>
        <p:nvSpPr>
          <p:cNvPr id="122" name="TextBox 66">
            <a:extLst>
              <a:ext uri="{FF2B5EF4-FFF2-40B4-BE49-F238E27FC236}">
                <a16:creationId xmlns:a16="http://schemas.microsoft.com/office/drawing/2014/main" id="{A033A937-4CE5-2500-3E5A-0A4B03826BDF}"/>
              </a:ext>
            </a:extLst>
          </p:cNvPr>
          <p:cNvSpPr txBox="1"/>
          <p:nvPr/>
        </p:nvSpPr>
        <p:spPr>
          <a:xfrm>
            <a:off x="196850" y="7785100"/>
            <a:ext cx="1983167" cy="249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fr-FR" sz="1500" b="1" spc="199" noProof="0" dirty="0">
                <a:solidFill>
                  <a:schemeClr val="tx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LANGUES</a:t>
            </a:r>
          </a:p>
        </p:txBody>
      </p:sp>
      <p:sp>
        <p:nvSpPr>
          <p:cNvPr id="124" name="TextBox 67">
            <a:extLst>
              <a:ext uri="{FF2B5EF4-FFF2-40B4-BE49-F238E27FC236}">
                <a16:creationId xmlns:a16="http://schemas.microsoft.com/office/drawing/2014/main" id="{DC10F177-176D-EC72-3A1B-81DF85348ABB}"/>
              </a:ext>
            </a:extLst>
          </p:cNvPr>
          <p:cNvSpPr txBox="1"/>
          <p:nvPr/>
        </p:nvSpPr>
        <p:spPr>
          <a:xfrm>
            <a:off x="196850" y="8089900"/>
            <a:ext cx="2497936" cy="820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Français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Courant / Excellente maîtrise rédactionnelle</a:t>
            </a:r>
          </a:p>
          <a:p>
            <a:pPr marL="194312" lvl="1" indent="-97156">
              <a:lnSpc>
                <a:spcPts val="1260"/>
              </a:lnSpc>
              <a:buFont typeface="Arial"/>
              <a:buChar char="•"/>
            </a:pPr>
            <a:r>
              <a:rPr lang="fr-FR" sz="900" b="1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Anglais : </a:t>
            </a:r>
            <a:r>
              <a:rPr lang="fr-FR" sz="900" dirty="0">
                <a:solidFill>
                  <a:srgbClr val="3B3939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Technique / Intermédiaire (Capacité à lire les documentations et traiter les tickets informatiques)</a:t>
            </a:r>
            <a:endParaRPr lang="fr-FR" sz="900" noProof="0" dirty="0">
              <a:solidFill>
                <a:srgbClr val="3B3939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26" name="Image 125">
            <a:extLst>
              <a:ext uri="{FF2B5EF4-FFF2-40B4-BE49-F238E27FC236}">
                <a16:creationId xmlns:a16="http://schemas.microsoft.com/office/drawing/2014/main" id="{800A1ED0-048B-745C-503F-588F75CA7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35" y="-36531"/>
            <a:ext cx="2393864" cy="2393864"/>
          </a:xfrm>
          <a:prstGeom prst="rect">
            <a:avLst/>
          </a:prstGeom>
        </p:spPr>
      </p:pic>
      <p:sp>
        <p:nvSpPr>
          <p:cNvPr id="128" name="AutoShape 22">
            <a:extLst>
              <a:ext uri="{FF2B5EF4-FFF2-40B4-BE49-F238E27FC236}">
                <a16:creationId xmlns:a16="http://schemas.microsoft.com/office/drawing/2014/main" id="{125A7262-8CEC-9E00-E507-F18FAA8FF378}"/>
              </a:ext>
            </a:extLst>
          </p:cNvPr>
          <p:cNvSpPr/>
          <p:nvPr/>
        </p:nvSpPr>
        <p:spPr>
          <a:xfrm flipV="1">
            <a:off x="3051921" y="4332700"/>
            <a:ext cx="0" cy="1548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0" name="AutoShape 22">
            <a:extLst>
              <a:ext uri="{FF2B5EF4-FFF2-40B4-BE49-F238E27FC236}">
                <a16:creationId xmlns:a16="http://schemas.microsoft.com/office/drawing/2014/main" id="{3A479999-AB85-4CFA-A9A4-9EA6F4F39679}"/>
              </a:ext>
            </a:extLst>
          </p:cNvPr>
          <p:cNvSpPr/>
          <p:nvPr/>
        </p:nvSpPr>
        <p:spPr>
          <a:xfrm flipV="1">
            <a:off x="3051921" y="6160900"/>
            <a:ext cx="0" cy="1224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2" name="AutoShape 22">
            <a:extLst>
              <a:ext uri="{FF2B5EF4-FFF2-40B4-BE49-F238E27FC236}">
                <a16:creationId xmlns:a16="http://schemas.microsoft.com/office/drawing/2014/main" id="{A2BEFEAD-AA0B-017C-87E3-2B534CFE3CEA}"/>
              </a:ext>
            </a:extLst>
          </p:cNvPr>
          <p:cNvSpPr/>
          <p:nvPr/>
        </p:nvSpPr>
        <p:spPr>
          <a:xfrm flipV="1">
            <a:off x="3053510" y="7707732"/>
            <a:ext cx="0" cy="115200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528</Words>
  <Application>Microsoft Office PowerPoint</Application>
  <PresentationFormat>Personnalisé</PresentationFormat>
  <Paragraphs>50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Montserrat</vt:lpstr>
      <vt:lpstr>Arial</vt:lpstr>
      <vt:lpstr>Montserrat Light Italics</vt:lpstr>
      <vt:lpstr>Montserrat Light</vt:lpstr>
      <vt:lpstr>Montserrat Semi-Bold</vt:lpstr>
      <vt:lpstr>Calibri</vt:lpstr>
      <vt:lpstr>Montserrat Bold</vt:lpstr>
      <vt:lpstr>Montserrat Italics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CV_YORO</dc:title>
  <dc:creator>Nincekon YORO;Nincekon YORO Zandé</dc:creator>
  <cp:lastModifiedBy>Nincekon YORO</cp:lastModifiedBy>
  <cp:revision>10</cp:revision>
  <dcterms:created xsi:type="dcterms:W3CDTF">2006-08-16T00:00:00Z</dcterms:created>
  <dcterms:modified xsi:type="dcterms:W3CDTF">2026-09-27T11:12:14Z</dcterms:modified>
  <dc:identifier>DAGfBQnlbRU</dc:identifier>
</cp:coreProperties>
</file>